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2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Injury rate by workload decile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Injury rate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9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Normal load
(deciles 1–8)</c:v>
                  </c:pt>
                  <c:pt idx="1">
                    <c:v>Elevated
(decile 9)</c:v>
                  </c:pt>
                  <c:pt idx="2">
                    <c:v>Danger zone
(decile 10)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70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In-fold feature count vs. classifier AUC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Classifier AUC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3</c:v>
                  </c:pt>
                  <c:pt idx="1">
                    <c:v>12</c:v>
                  </c:pt>
                  <c:pt idx="2">
                    <c:v>35</c:v>
                  </c:pt>
                  <c:pt idx="3">
                    <c:v>100</c:v>
                  </c:pt>
                  <c:pt idx="4">
                    <c:v>206 (all)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0.733</c:v>
                </c:pt>
                <c:pt idx="1">
                  <c:v>0.7463</c:v>
                </c:pt>
                <c:pt idx="2">
                  <c:v>0.7572</c:v>
                </c:pt>
                <c:pt idx="3">
                  <c:v>0.7522</c:v>
                </c:pt>
                <c:pt idx="4">
                  <c:v>0.7497</c:v>
                </c:pt>
              </c:numCache>
            </c:numRef>
          </c:val>
          <c:smooth val="0"/>
        </c:ser>
        <c:dLbls>
          <c:numFmt formatCode="0.0000" sourceLinked="0"/>
          <c:txPr>
            <a:bodyPr/>
            <a:lstStyle/>
            <a:p>
              <a:pPr>
                <a:defRPr b="0" i="0" strike="noStrike" sz="1050" u="none">
                  <a:solidFill>
                    <a:srgbClr val="21295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7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785"/>
                    </a:solidFill>
                    <a:latin typeface="Arial"/>
                  </a:rPr>
                  <a:t>Features used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65"/>
          <c:min val="0.72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21295C"/>
                </a:solidFill>
                <a:latin typeface="Calibri"/>
              </a:rPr>
              <a:t>Calibrated injury probability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Athletes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7D0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D0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7D0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D0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0.10</c:v>
                  </c:pt>
                  <c:pt idx="1">
                    <c:v>0.20</c:v>
                  </c:pt>
                  <c:pt idx="2">
                    <c:v>0.30</c:v>
                  </c:pt>
                  <c:pt idx="3">
                    <c:v>0.40</c:v>
                  </c:pt>
                  <c:pt idx="4">
                    <c:v>0.50</c:v>
                  </c:pt>
                  <c:pt idx="5">
                    <c:v>0.60</c:v>
                  </c:pt>
                  <c:pt idx="6">
                    <c:v>0.70</c:v>
                  </c:pt>
                  <c:pt idx="7">
                    <c:v>0.80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640</c:v>
                </c:pt>
                <c:pt idx="1">
                  <c:v>700</c:v>
                </c:pt>
                <c:pt idx="2">
                  <c:v>120</c:v>
                </c:pt>
                <c:pt idx="3">
                  <c:v>40</c:v>
                </c:pt>
                <c:pt idx="4">
                  <c:v>30</c:v>
                </c:pt>
                <c:pt idx="5">
                  <c:v>90</c:v>
                </c:pt>
                <c:pt idx="6">
                  <c:v>520</c:v>
                </c:pt>
                <c:pt idx="7">
                  <c:v>640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78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785"/>
                    </a:solidFill>
                    <a:latin typeface="Arial"/>
                  </a:rPr>
                  <a:t>Athletes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24160" y="310896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PLAYHACK ML TRACK 2026  ·  IIT GUWAHATI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Athlete Injury Risk Prediction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leak-safe ML pipeline that turns 30 days of wearable data into injury risk, onset timing, and recovery-length predictions.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958645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4526280"/>
            <a:ext cx="195864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Leak-safe by design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82773" y="4526280"/>
            <a:ext cx="2585923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982773" y="4526280"/>
            <a:ext cx="25859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metric ceiling closed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69864" y="4526280"/>
            <a:ext cx="2048256" cy="402336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769864" y="452628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the official metric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Submission  ·  Machine Learning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 of sensor data. Three questions about the next 30.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WINDOW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 – 30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8680" y="29535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28072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heart rate, steps, calories, intensity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4107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97280" y="32644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sleep duration &amp; quality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679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7280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logs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32511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97280" y="4178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metadata (sport, age, prior injuries)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BOTH train and test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806440" y="32918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76656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WINDOW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31 – 60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766560" y="2880360"/>
            <a:ext cx="4526280" cy="685800"/>
          </a:xfrm>
          <a:prstGeom prst="roundRect">
            <a:avLst>
              <a:gd name="adj" fmla="val 9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949440" y="29352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injured_in_risk_window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does an injury occur?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3749040"/>
            <a:ext cx="4526280" cy="685800"/>
          </a:xfrm>
          <a:prstGeom prst="roundRect">
            <a:avLst>
              <a:gd name="adj" fmla="val 9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949440" y="38039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onset_day_offset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087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day, 1–30, does it happen?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4617720"/>
            <a:ext cx="4526280" cy="685800"/>
          </a:xfrm>
          <a:prstGeom prst="roundRect">
            <a:avLst>
              <a:gd name="adj" fmla="val 9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949440" y="46725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recovery_duration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9560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to recover, 5–20?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has the answers — test stops at Day 30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relational tables. Hundreds of millions of readings.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athletes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72000" y="1901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athletes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366760" y="190195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/ 30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06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days: train /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3593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CSV tables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572000" y="3593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~660 MB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training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34290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66760" y="35935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Hourly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steps, calories, intensity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families: activity (steps/calories), heart rate, sleep, training sessions, body composition, and athlete metadata.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· TRAP #1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training CSV secretly contains the future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"Average steps over all 60 training days" quietly reads into the injury period itself — the model memorizes rather than predicts.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03520" cy="3520440"/>
          </a:xfrm>
          <a:prstGeom prst="roundRect">
            <a:avLst>
              <a:gd name="adj" fmla="val 2597"/>
            </a:avLst>
          </a:prstGeom>
          <a:solidFill>
            <a:srgbClr val="FCEEEF"/>
          </a:solidFill>
          <a:ln w="15875">
            <a:solidFill>
              <a:srgbClr val="D6455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— Data Leakage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71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= avg_steps(all 60 days)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 AUC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(memorizing the future)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 score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 AUC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29184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(barely above random)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0749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will fall into this trap without realizing it.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103120"/>
            <a:ext cx="5303520" cy="3520440"/>
          </a:xfrm>
          <a:prstGeom prst="roundRect">
            <a:avLst>
              <a:gd name="adj" fmla="val 2597"/>
            </a:avLst>
          </a:prstGeom>
          <a:solidFill>
            <a:srgbClr val="EAF7EF"/>
          </a:solidFill>
          <a:ln w="15875">
            <a:solidFill>
              <a:srgbClr val="6FCF9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583680" y="233172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8368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Leak-Safe — Ours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971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= avg_steps(Days 1–30 only)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 AUC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315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(honest estimate)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 score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3794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 AUC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(matches expectation)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by an automated assert_no_leakage() check that runs before every training run.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DISCOVERY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Injuries follow two separate biological mechanisms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828800"/>
            <a:ext cx="5212080" cy="1170432"/>
          </a:xfrm>
          <a:prstGeom prst="roundRect">
            <a:avLst>
              <a:gd name="adj" fmla="val 5469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400800" y="1828800"/>
            <a:ext cx="73152" cy="1170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629400" y="1920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hazard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231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Deciles 1–8  ·  ~Day 21.9 (late, random)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noise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3154680"/>
            <a:ext cx="5212080" cy="1170432"/>
          </a:xfrm>
          <a:prstGeom prst="roundRect">
            <a:avLst>
              <a:gd name="adj" fmla="val 5469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400800" y="3154680"/>
            <a:ext cx="73152" cy="1170432"/>
          </a:xfrm>
          <a:prstGeom prst="rect">
            <a:avLst/>
          </a:prstGeom>
          <a:solidFill>
            <a:srgbClr val="C98A1F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629400" y="3246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zone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5570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9  ·  Day 12.4 (mid-window)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3840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8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emerging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0" y="4480560"/>
            <a:ext cx="5212080" cy="1170432"/>
          </a:xfrm>
          <a:prstGeom prst="roundRect">
            <a:avLst>
              <a:gd name="adj" fmla="val 5469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400800" y="4480560"/>
            <a:ext cx="73152" cy="1170432"/>
          </a:xfrm>
          <a:prstGeom prst="rect">
            <a:avLst/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629400" y="4572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 hazard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4882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Decile 10  ·  Day 5.0 (immediate)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SPOTLIGHT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ACWR — the single most important 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1965960"/>
          </a:xfrm>
          <a:prstGeom prst="roundRect">
            <a:avLst>
              <a:gd name="adj" fmla="val 4651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: Chronic Workload Ratio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ACWR = avg load (last 7 days)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÷ avg load (prior 23 days)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my recent training compare to what my body is used to?"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ACWR variants (steps, HR, calories, intensity, composite load) correlate at r ≈ 0.99 — one underlying overload signal seen through five instruments.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15000" y="1737360"/>
            <a:ext cx="1351026" cy="3749040"/>
          </a:xfrm>
          <a:prstGeom prst="roundRect">
            <a:avLst>
              <a:gd name="adj" fmla="val 5415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15000" y="1737360"/>
            <a:ext cx="1351026" cy="10972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715000" y="2057400"/>
            <a:ext cx="1351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0.8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788152" y="2697480"/>
            <a:ext cx="120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Under-training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88152" y="5074920"/>
            <a:ext cx="1204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30618" y="1737360"/>
            <a:ext cx="1351026" cy="3749040"/>
          </a:xfrm>
          <a:prstGeom prst="roundRect">
            <a:avLst>
              <a:gd name="adj" fmla="val 5415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230618" y="1737360"/>
            <a:ext cx="1351026" cy="109728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30618" y="2057400"/>
            <a:ext cx="1351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1.0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303770" y="2697480"/>
            <a:ext cx="120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03770" y="5074920"/>
            <a:ext cx="1204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46236" y="1737360"/>
            <a:ext cx="1351026" cy="3749040"/>
          </a:xfrm>
          <a:prstGeom prst="roundRect">
            <a:avLst>
              <a:gd name="adj" fmla="val 5415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746236" y="1737360"/>
            <a:ext cx="1351026" cy="109728"/>
          </a:xfrm>
          <a:prstGeom prst="roundRect">
            <a:avLst>
              <a:gd name="adj" fmla="val 50000"/>
            </a:avLst>
          </a:prstGeom>
          <a:solidFill>
            <a:srgbClr val="E0A93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746236" y="2057400"/>
            <a:ext cx="1351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8819388" y="2697480"/>
            <a:ext cx="120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overreach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819388" y="5074920"/>
            <a:ext cx="1204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risk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61854" y="1737360"/>
            <a:ext cx="1351026" cy="3749040"/>
          </a:xfrm>
          <a:prstGeom prst="roundRect">
            <a:avLst>
              <a:gd name="adj" fmla="val 5415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261854" y="1737360"/>
            <a:ext cx="1351026" cy="10972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261854" y="2057400"/>
            <a:ext cx="13510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1.13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0335006" y="2697480"/>
            <a:ext cx="1204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335006" y="5074920"/>
            <a:ext cx="12047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94–100% injury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 signals engineered — only 35 make the model better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00200"/>
            <a:ext cx="4343400" cy="1874520"/>
          </a:xfrm>
          <a:prstGeom prst="roundRect">
            <a:avLst>
              <a:gd name="adj" fmla="val 4878"/>
            </a:avLst>
          </a:prstGeom>
          <a:solidFill>
            <a:srgbClr val="EAF7EF"/>
          </a:solidFill>
          <a:ln w="12700">
            <a:solidFill>
              <a:srgbClr val="6FCF9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452360" y="17373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5146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feature count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35 / 35 / 20 for classifier / onset / recovery)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223760" y="3657600"/>
            <a:ext cx="4343400" cy="2103120"/>
          </a:xfrm>
          <a:prstGeom prst="roundRect">
            <a:avLst>
              <a:gd name="adj" fmla="val 4348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5236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in-fold, by LightGBM gain — never contaminated by the held-out fold.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4343400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 hurt here: redundant ACWR variants (r ≈ 0.99) cause trees to split across near-duplicate columns and overfit. All-223 scores below even a single raw feature.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gradient-boost families, blended with AutoGluon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leak-safe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108960" y="141732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246120" y="147218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746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0.7601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224028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246120" y="2295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569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0.7633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306324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246120" y="31181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392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0.7621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3904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seeds × 5-fold CV each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309360" y="15544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Non-negative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OOF blend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2834640"/>
            <a:ext cx="2468880" cy="1234440"/>
          </a:xfrm>
          <a:prstGeom prst="roundRect">
            <a:avLst>
              <a:gd name="adj" fmla="val 5185"/>
            </a:avLst>
          </a:prstGeom>
          <a:solidFill>
            <a:srgbClr val="3E4C8A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309360" y="2926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1.6.1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best_quality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(2-layer stack)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2148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372600" y="1280160"/>
            <a:ext cx="2331720" cy="2880360"/>
          </a:xfrm>
          <a:prstGeom prst="roundRect">
            <a:avLst>
              <a:gd name="adj" fmla="val 3137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55548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PER-HEAD BEST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55548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039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95% blend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555480" y="27706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78 / 22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555480" y="3502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solo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22960" y="5029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Sport × Gender group median folded into the Recovery head at 62% weight — simple beats complex where the signal is genuinely weak.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PERFECT SCORE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proved the ceiling — and closed 97% of 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athletes, identical sensor data, true injury probability p = 0.70 → nature still flips a biased coin. Even a God-mode oracle cannot say which 30 dodge it, so no model reaches a perfect score. We derived that limit for the metric we are actually scored on, then measured our distance to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492240" cy="3063240"/>
          </a:xfrm>
          <a:prstGeom prst="roundRect">
            <a:avLst>
              <a:gd name="adj" fmla="val 2985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BAYES CEILING PIPELINE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PCA over the tight ACWR family (r ≈ 0.99) → 1-D load-ramp latent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Cross-fitted isotonic regression → honest p̂ᵢ per athlete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Bayes-optimal F1 and skill scores under the official rule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5029200"/>
            <a:ext cx="5943600" cy="0"/>
          </a:xfrm>
          <a:prstGeom prst="line">
            <a:avLst/>
          </a:prstGeom>
          <a:noFill/>
          <a:ln w="12700">
            <a:solidFill>
              <a:srgbClr val="3E4C8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5166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ceiling 0.4407      Ours 0.4275      (ROC-AUC 0.7625 vs 0.7702, diagnostic)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1371600"/>
            <a:ext cx="4297680" cy="4572000"/>
          </a:xfrm>
          <a:prstGeom prst="roundRect">
            <a:avLst>
              <a:gd name="adj" fmla="val 2553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0" y="1737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9F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5740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97.0%</a:t>
            </a:r>
            <a:endParaRPr lang="en-US" sz="6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3703320"/>
          <a:ext cx="374904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F2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F2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F2E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 —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— onset 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 — recovery 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E93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flag 99.4%, not the F1 optimum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15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 thresholds swept out-of-fold · one missed injury measurably dents recovery skill · 22 misses zero it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543800" y="173736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726680" y="18470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44000" y="18653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242316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502 of 1,050 injuries — both skills 0.000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543800" y="315468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7726680" y="326440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0.046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328269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— shipped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8404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99.4%, misses zero, pays no penalty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543800" y="457200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EAF7EF"/>
          </a:solidFill>
          <a:ln w="12700">
            <a:solidFill>
              <a:srgbClr val="2E9E5B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726680" y="468172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3rd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47000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102 thresholds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726680" y="5257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 within 0.001 under 6 of 7 weightings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19" name="Picture 18" descr="10_sweep_sl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636465"/>
            <a:ext cx="6766560" cy="39416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numbers vs. baseline and the theoretical ceiling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1737360"/>
                <a:gridCol w="1554480"/>
                <a:gridCol w="1737360"/>
                <a:gridCol w="1737360"/>
                <a:gridCol w="155448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Scored quantity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Ceiling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0.5246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— onset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— recovery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threshold: 0.046 (rank-quantile)  ·  Test flagged: 99.4%  ·  OOF recall on injured: 1.000  ·  Features per head: 35 / 35 / 20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0.7625 (ceiling 0.7702) is a diagnostic, not a scored quantity. F1 of 0.52 is not a weak classifier: at full recall F1 is pinned by prevalence to 2p/(1+p) = 0.5185, and the Bayes optimum under this metric is 0.5226.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didn't work — and why that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892808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013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 Survival Model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94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injured + healthy as one censored time T (right-censored at Day 30 for healthy athletes).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28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both heads against the tuned ensemble. A single parametric hazard curve cannot represent two distinct biological mechanisms.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465576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74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All 223 Features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7673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information should mean better predictions.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401568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features scored 0.7497 AUC — below a single raw hr_acwr column (0.7583). The ACWR family's r ≈ 0.99 redundancy makes trees overfit near-identical splits. 35 features scored best, at 0.7572.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1F5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5038344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77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946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TabPFN Foundation Model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34009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tabular transformer, claimed SOTA for small-sample regimes.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4974336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its package requires an interactive browser license click-through that can't run headlessly. Documented for transparency.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not to use ML is as important as knowing how to use it.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Rigor over raw horsepower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Leak-safety first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47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guard rejects any feature that crosses Day 30 — before it can inflate a CV score.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measured the ceiling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90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derived the Bayes optimum for the organisers' own rule — and from the data generating process independently — to show 0.52 F1 is 99.3% of what is achievable, not a weak model.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beats complex, sometimes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33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duration has near-zero correlation with any wearable signal — a cross-fitted group median beats every tree model we tried.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86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010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results, documented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3766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 survival, all-223-features, and TabPFN all failed — and we explain exactly why, not just that they did.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12700">
            <a:solidFill>
              <a:srgbClr val="3E4C8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github.com/YayaBud/playhack-ml-track-2026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6446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YayaBud  ·  PlayHack ML Track 2026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1C7293"/>
                </a:solidFill>
                <a:latin typeface="Calibri"/>
              </a:rPr>
              <a:t>THE SCORING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1295C"/>
                </a:solidFill>
                <a:latin typeface="Cambria"/>
              </a:rPr>
              <a:t>A missed injury costs 30. The baseline scores 3.2.</a:t>
            </a:r>
          </a:p>
        </p:txBody>
      </p:sp>
      <p:pic>
        <p:nvPicPr>
          <p:cNvPr id="21" name="Picture 20" descr="08_penalty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11" y="1508760"/>
            <a:ext cx="6589776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498348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B1F27"/>
                </a:solidFill>
                <a:latin typeface="Calibri"/>
              </a:rPr>
              <a:t>Task B is scored only over athletes who are truly injured. A false positive is not in that population, so it costs Task B nothing — but a miss costs a flat 30 on both timing heads, against baselines of just 7.61 and 3.24. One miss wipes out roughly nine good recovery predictions.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1508760"/>
            <a:ext cx="4069080" cy="1874519"/>
          </a:xfrm>
          <a:prstGeom prst="roundRect">
            <a:avLst>
              <a:gd name="adj" fmla="val 4000"/>
            </a:avLst>
          </a:prstGeom>
          <a:solidFill>
            <a:srgbClr val="EA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18120" y="17373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1C7293"/>
                </a:solidFill>
                <a:latin typeface="Calibri"/>
              </a:rPr>
              <a:t>BREAK-EVEN 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10312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1295C"/>
                </a:solidFill>
                <a:latin typeface="Cambria"/>
              </a:rPr>
              <a:t>0.82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2128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785"/>
                </a:solidFill>
                <a:latin typeface="Calibri"/>
              </a:rPr>
              <a:t>onset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26060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64550"/>
                </a:solidFill>
                <a:latin typeface="Cambria"/>
              </a:rPr>
              <a:t>0.99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7157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7785"/>
                </a:solidFill>
                <a:latin typeface="Calibri"/>
              </a:rPr>
              <a:t>recovery skill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611880"/>
            <a:ext cx="4069080" cy="256032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18120" y="38404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6FCF97"/>
                </a:solidFill>
                <a:latin typeface="Calibri"/>
              </a:rPr>
              <a:t>TASK B SCORE, BY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2793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C7D6E0"/>
                </a:solidFill>
                <a:latin typeface="Calibri"/>
              </a:rPr>
              <a:t>Tuned for 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0624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D64550"/>
                </a:solidFill>
                <a:latin typeface="Cambria"/>
              </a:rPr>
              <a:t>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8280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Our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754880"/>
            <a:ext cx="1325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6FCF97"/>
                </a:solidFill>
                <a:latin typeface="Cambria"/>
              </a:rPr>
              <a:t>0.762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34924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C7D6E0"/>
                </a:solidFill>
                <a:latin typeface="Calibri"/>
              </a:rPr>
              <a:t>Same models, same predictions — only the cut-off differs. It roughly doubles the combined score.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2026-08-27T23:07:52Z</dcterms:created>
  <dcterms:modified xsi:type="dcterms:W3CDTF">2026-08-27T23:07:52Z</dcterms:modified>
</cp:coreProperties>
</file>